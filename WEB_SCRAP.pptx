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82" r:id="rId15"/>
    <p:sldId id="283" r:id="rId16"/>
    <p:sldId id="284" r:id="rId17"/>
    <p:sldId id="285" r:id="rId18"/>
    <p:sldId id="271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38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D1C11-1EFE-49B7-939F-1DE895F77EDF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48908-58AA-4A36-B0E5-D0BD5476680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48908-58AA-4A36-B0E5-D0BD54766803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237-86CD-436D-8C21-2499372D607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E5B8B-B5E1-402A-BD8E-59E1B044D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237-86CD-436D-8C21-2499372D607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E5B8B-B5E1-402A-BD8E-59E1B044D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237-86CD-436D-8C21-2499372D607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E5B8B-B5E1-402A-BD8E-59E1B044D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237-86CD-436D-8C21-2499372D607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E5B8B-B5E1-402A-BD8E-59E1B044D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237-86CD-436D-8C21-2499372D607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E5B8B-B5E1-402A-BD8E-59E1B044D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237-86CD-436D-8C21-2499372D607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E5B8B-B5E1-402A-BD8E-59E1B044D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237-86CD-436D-8C21-2499372D607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E5B8B-B5E1-402A-BD8E-59E1B044DFF1}" type="slidenum">
              <a:rPr lang="en-IN" smtClean="0"/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0761" y="6210362"/>
            <a:ext cx="3538478" cy="5111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237-86CD-436D-8C21-2499372D607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E5B8B-B5E1-402A-BD8E-59E1B044D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237-86CD-436D-8C21-2499372D607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E5B8B-B5E1-402A-BD8E-59E1B044D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237-86CD-436D-8C21-2499372D607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E5B8B-B5E1-402A-BD8E-59E1B044D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237-86CD-436D-8C21-2499372D607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E5B8B-B5E1-402A-BD8E-59E1B044D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16237-86CD-436D-8C21-2499372D607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E5B8B-B5E1-402A-BD8E-59E1B044DFF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hdphoto" Target="../media/image26.wdp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278193" y="4286849"/>
            <a:ext cx="11267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 PRICE ANALYSIS: INSIGHTS FROM USED BIKE MARKET DATA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65290" y="570271"/>
            <a:ext cx="4109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347020" y="1590796"/>
            <a:ext cx="8691716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Yallapragada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Anusha.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Passionate about Data Analysis, Python, and Data Visualization.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Skilled in data collection, cleaning, visualization, and analysis.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Eager to apply data-driven insights to solve real-world problems.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improving skills in web scraping, exploratory data analysis, and predictive modeling.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65290" y="436913"/>
            <a:ext cx="2831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PREFACE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27354" y="898578"/>
            <a:ext cx="6140245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ASSESSMENT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– DATA PREPROCESSING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&amp; FINAL CLEANING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VISUALIZATIONS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AND CHALLENGES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21162" y="666370"/>
            <a:ext cx="2664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6245" y="1936955"/>
            <a:ext cx="528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4285" y="1256467"/>
            <a:ext cx="10240296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two-wheeler resale market is growing rapidly due to increasing demand for affordable personal transportation.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platforms list thousands of used bikes with varying prices, conditions, and specifications.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price variation depends on multiple factors such as model year, usage, engine capacity, ownership history, and location.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performs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used bike dataset to understand pricing patterns and key influencing factors.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resale data often contains missing values, inconsistent formats, and noise, making preprocessing a critical step before analysis.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analyzing historical listings, the project aims to uncover market trends and provide data-backed insights into the used bike ecosystem.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90548" y="416888"/>
            <a:ext cx="3441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0400" y="878553"/>
            <a:ext cx="1029879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used two-wheeler resale market lacks standardized pricing, leading to large variations for similar bikes.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often struggle to assess whether a listed bike price is fair, overpriced, or undervalued.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rely on intuition rather than data-driven insights, which can result in incorrect pricing and delayed sales.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Resale platforms handle large volumes of listings but lack analytical insights to highlight optimal price ranges.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data formats, missing values, and unstructured information make analysis and decision-making challenging.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analysis, stakeholders cannot clearly identify the key factors that influence resale value.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uncertainty and inefficiency in the used bike marketplace.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66968" y="481781"/>
            <a:ext cx="2222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94503" y="1663798"/>
            <a:ext cx="99797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preprocess real-world used bike listing data.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price distribution and ownership trends using univariate analysis.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relationships between price and factors such as kilometers run, model year, and engine capacity.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actionable insights that support buyers, sellers, and business platforms in decision-making.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376516" y="1149223"/>
            <a:ext cx="961594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online used two-wheeler resale platform was selected as the data source.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Browser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Developer Tools (Inspect Element)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used to identify relevant HTML tags and page structure.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such as Requests and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used to send HTTP requests and extract listing data.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Publicly available web pages were fetched and parsed to collect structured information.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data was consolidated into a single dataset for further processing and analysis.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performed to identify pricing patterns, trends, and relationships among features.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80155" y="461186"/>
            <a:ext cx="2615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665" y="1268362"/>
            <a:ext cx="11062670" cy="49220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20929" y="436738"/>
            <a:ext cx="1750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26426" y="707923"/>
            <a:ext cx="3687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71482" y="1622322"/>
            <a:ext cx="908500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dataset consists of 2027 used bike listings with 8 features.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 include bike name, model year, price, location, kilometers run, engine capacity, color, and ownership details.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a mix of numerical and categorical variables.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years range from 1980 to 2026, indicating both old and recent bike listings.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columns contained missing values and inconsistent formats, requiring preprocessing.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2296" y="408264"/>
            <a:ext cx="4621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ASSESSMENT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42218" y="989523"/>
            <a:ext cx="1007806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Price, kilometers run, and engine capacity were initially stored as text with units and symbols.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 missing values were observed in Color and Engine CC columns.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Minor missing values were found in Model Year, Price, KMs Run, and Ownership columns.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types were inconsistent, limiting direct numerical analysis.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28335" y="3390876"/>
            <a:ext cx="5614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- PREPROCESSING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42218" y="4007125"/>
            <a:ext cx="860322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currency symbols, commas, and units from numerical columns.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Price, KMs Run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into numeric data types.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Invalid or non-numeric values were converted to missing values 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ownership labels for consistency (e.g., Single → One Owner).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48814" y="874616"/>
            <a:ext cx="897685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imputation was used for Price, KMs Run, and Model Year.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was chosen as it is robust to outliers in resale price data.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 missing values were handled using: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 imputation for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ownership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“Not Mentioned” category for color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“Unknown” category for Engine CC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preserved dataset size and reduced bias.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52799" y="336006"/>
            <a:ext cx="4916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48814" y="4398335"/>
            <a:ext cx="828859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 column was split into City and State for regional analysis.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State-wise analysis enabled geographical trend identification.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were removed to avoid redundancy.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cleaned dataset contains 1980 records with zero missing values.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40240" y="3991728"/>
            <a:ext cx="7291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&amp; FINAL CLEANING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528" y="1155059"/>
            <a:ext cx="11119571" cy="45478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06529" y="493760"/>
            <a:ext cx="35789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5"/>
              </a:spcBef>
              <a:spcAft>
                <a:spcPts val="870"/>
              </a:spcAft>
              <a:buNone/>
            </a:pP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NON-VISUALIZATION</a:t>
            </a:r>
            <a:endParaRPr lang="en-IN" sz="24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t="15491"/>
          <a:stretch>
            <a:fillRect/>
          </a:stretch>
        </p:blipFill>
        <p:spPr>
          <a:xfrm>
            <a:off x="144512" y="1509699"/>
            <a:ext cx="5951488" cy="27825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722" y="1509699"/>
            <a:ext cx="5762217" cy="36958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13007" y="1032507"/>
            <a:ext cx="3126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653" y="1085523"/>
            <a:ext cx="4448796" cy="2343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1653" y="4129152"/>
            <a:ext cx="50462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has a positive correlation with model year, indicating that newer and higher-capacity bikes tend to be priced higher. Price shows a weak negative correlation with kilometers run, suggesting that higher usage slightly reduces the price.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17922" y="335337"/>
            <a:ext cx="31561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 t="6805" r="32404"/>
          <a:stretch>
            <a:fillRect/>
          </a:stretch>
        </p:blipFill>
        <p:spPr>
          <a:xfrm>
            <a:off x="5837659" y="1429480"/>
            <a:ext cx="2185464" cy="54285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659" y="856891"/>
            <a:ext cx="3534268" cy="457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04793" y="1843950"/>
            <a:ext cx="422787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price analysis shows that older bikes have highly variable prices due to rarity and condition, while recent bikes (2016–2025) show a clear upward trend in median prices, reflecting the market value of modern models. Using median instead of mean reduces the impact of extreme outliers and provides a more realistic view of typical bike prices for each year.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-1" r="-1238" b="47245"/>
          <a:stretch>
            <a:fillRect/>
          </a:stretch>
        </p:blipFill>
        <p:spPr>
          <a:xfrm>
            <a:off x="1235668" y="1302774"/>
            <a:ext cx="2746397" cy="52358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564" y="974530"/>
            <a:ext cx="3210373" cy="5734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14" y="319356"/>
            <a:ext cx="9354856" cy="4953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65574" y="2105561"/>
            <a:ext cx="34806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kilometers run varies by state, highlighting regional differences in bike usage, condition, and resale potential.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046" y="490511"/>
            <a:ext cx="6420746" cy="3905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b="6075"/>
          <a:stretch>
            <a:fillRect/>
          </a:stretch>
        </p:blipFill>
        <p:spPr>
          <a:xfrm>
            <a:off x="330769" y="1068879"/>
            <a:ext cx="4264780" cy="41637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898" y="1057522"/>
            <a:ext cx="5102941" cy="4175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0922" y="5232656"/>
            <a:ext cx="114203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bike prices vary across states and ownership categories, showing that single-owner bikes generally have higher prices while multi-owner bikes are priced lower.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values indicate the absence of listings for certain state–owner combinations rather than missing or incorrect data.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24516" y="117239"/>
            <a:ext cx="396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16128" y="0"/>
            <a:ext cx="2703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5"/>
              </a:spcBef>
              <a:spcAft>
                <a:spcPts val="870"/>
              </a:spcAft>
              <a:buNone/>
            </a:pP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IN" sz="24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92951" y="4779138"/>
            <a:ext cx="659744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used bikes are priced below ₹2 lakh, indicating a strong concentration in the affordable segment.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few high-priced bikes create a long right tail, showing that the price distribution is right-skewed due to premium models.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68645" y="470044"/>
            <a:ext cx="3539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66270" y="4448964"/>
            <a:ext cx="52799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bar chart shows that Maharashtra has the highest number of bike listings, followed by Karnataka and Tamil Nadu. This indicates that bike listings are concentrated in a few major states, while other states have comparatively fewer listings.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630" y="794121"/>
            <a:ext cx="4991584" cy="38328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930" y="878533"/>
            <a:ext cx="3898020" cy="35746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823591" y="1085017"/>
            <a:ext cx="427703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 is the most common color, dominating the market.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Red, Blue, and White are moderately preferred.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frequent colors include Grey, Orange, Green, and Yellow.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with missing or unspecified color values were excluded.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941" y="475417"/>
            <a:ext cx="5964763" cy="53733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126410" y="617975"/>
            <a:ext cx="372642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Royal Enfield Classic 350 is the most frequently listed bike, followed by Royal Enfield Thunderbird 350.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Popular commuter and affordable models like Ola S1 Pro, Yamaha R15, Honda Activa, and Bajaj Pulsar 150 are also among the top 10.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strong resale demand for Royal Enfield bikes and high popularity of mid-range commuter bikes.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58" y="773528"/>
            <a:ext cx="7422273" cy="41720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26142" y="4587659"/>
            <a:ext cx="6263148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negative (inverse) relationship between kilometers run and bike price.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Bikes with lower</a:t>
            </a:r>
            <a:r>
              <a:rPr kumimoji="0" lang="en-I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kirometers run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tend to have higher prices, while prices decrease as kilometers increase.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few outliers exist with unusually high price or mileage.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341806" y="4350518"/>
            <a:ext cx="562405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Bike prices are unevenly distributed across states.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States like Karnataka show wider price ranges and extreme outliers, indicating diverse market pricing.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states have more compact distributions around the median, showing stable price trends.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0723" y="40799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044" y="529243"/>
            <a:ext cx="5278250" cy="40579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290" y="377139"/>
            <a:ext cx="5073445" cy="40204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23819" y="1228397"/>
            <a:ext cx="559182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bikes across all states are listed as “One Owner”, indicating high resale of relatively new bikes.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Two, Three, and Four Owner bikes are comparatively rare in all states.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like Maharashtra, Karnataka, and Tamil Nadu have the highest total number of bikes, with the majority being one-owner listings.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used bikes in popular states are mostly lightly used, making them attractive for resale.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216" y="209584"/>
            <a:ext cx="5699351" cy="64396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171" y="862789"/>
            <a:ext cx="6706536" cy="4286848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049728" y="1771426"/>
            <a:ext cx="4756192" cy="2553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engine CC bikes have higher median prices.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CC bikes are more affordable and price-stable.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generally increases with engine capacity.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02553" y="356600"/>
            <a:ext cx="5216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121" y="1160848"/>
            <a:ext cx="5534797" cy="4620270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7233920" y="890737"/>
            <a:ext cx="438912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&amp; Model Year: Moderate positive correlation (0.37), indicating that newer bikes generally have higher prices.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&amp; KMs Run: Very weak negative correlation, suggesting mileage has minimal impact on price.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Year &amp; KMs Run: Weak negative correlation, showing newer bikes tend to have slightly lower usage.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Bike price is more influenced by model year than by kilometers run.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622323" y="1408481"/>
            <a:ext cx="8711381" cy="4399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trends: Most bikes are priced below ₹2 lakh; higher engine capacity and newer model year generally increase price.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Bike preferences: Black is the most common color; Royal Enfield Classic 350 dominates the market.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Ownership trends: Most bikes are sold by their first owner, with very few multi-owner bikes.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trends: Prices vary across states, with Karnataka, Maharashtra, and Tamil Nadu showing wider price ranges.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Influencing factors: </a:t>
            </a:r>
            <a:r>
              <a:rPr kumimoji="0" lang="en-I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ngine CC, model year, and brand impact price, but price is a multifactor decision.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50658" y="675784"/>
            <a:ext cx="2477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7083" y="548179"/>
            <a:ext cx="11021961" cy="5761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Experiences: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bike listings using Python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Requests) efficiently.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in handling real-world messy datasets.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cleaning, including removing units, handling missing values, and standardizing text.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split, transform, and structure data for analysis (e.g., splitting Location into City &amp; State).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trends in price, mileage, engine capacity, and ownership patterns.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web pages made scraping multiple listings challenging.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data formats and missing values required careful cleaning.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columns had special characters and units, needing preprocessing.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accuracy and consistency while handling duplicates and irregular entries.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large datasets and maintaining efficiency during scraping and cleaning.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52799" y="157316"/>
            <a:ext cx="5486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EXPERIENCES AND CHALLENGES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6592" b="95338" l="1837" r="98163">
                        <a14:foregroundMark x1="54286" y1="24116" x2="54286" y2="24116"/>
                        <a14:foregroundMark x1="87857" y1="23151" x2="87857" y2="23151"/>
                        <a14:foregroundMark x1="87857" y1="24437" x2="87857" y2="24437"/>
                        <a14:foregroundMark x1="87857" y1="24437" x2="87857" y2="24437"/>
                        <a14:foregroundMark x1="87857" y1="24437" x2="87857" y2="24437"/>
                        <a14:foregroundMark x1="17143" y1="19936" x2="17143" y2="19936"/>
                        <a14:foregroundMark x1="27041" y1="71383" x2="27041" y2="71383"/>
                        <a14:foregroundMark x1="16327" y1="66720" x2="16327" y2="66720"/>
                        <a14:foregroundMark x1="16327" y1="66720" x2="16327" y2="66720"/>
                        <a14:foregroundMark x1="35306" y1="81672" x2="35306" y2="81672"/>
                        <a14:foregroundMark x1="35306" y1="81672" x2="35306" y2="81672"/>
                        <a14:foregroundMark x1="35306" y1="81672" x2="35306" y2="81672"/>
                        <a14:foregroundMark x1="42755" y1="95177" x2="42755" y2="95177"/>
                        <a14:foregroundMark x1="42755" y1="95177" x2="42755" y2="95177"/>
                        <a14:foregroundMark x1="42755" y1="95177" x2="42755" y2="95177"/>
                        <a14:foregroundMark x1="52857" y1="95498" x2="52857" y2="95498"/>
                        <a14:foregroundMark x1="52857" y1="95498" x2="52857" y2="95498"/>
                        <a14:foregroundMark x1="52857" y1="95498" x2="52857" y2="95498"/>
                        <a14:foregroundMark x1="90306" y1="25402" x2="90306" y2="25402"/>
                        <a14:foregroundMark x1="90306" y1="25402" x2="90306" y2="25402"/>
                        <a14:foregroundMark x1="90306" y1="25402" x2="90306" y2="25402"/>
                        <a14:foregroundMark x1="90306" y1="25402" x2="90306" y2="25402"/>
                        <a14:foregroundMark x1="90306" y1="25402" x2="90306" y2="25402"/>
                        <a14:foregroundMark x1="90306" y1="25402" x2="78673" y2="6913"/>
                        <a14:foregroundMark x1="93776" y1="33923" x2="93776" y2="48232"/>
                        <a14:foregroundMark x1="98367" y1="48553" x2="97959" y2="42605"/>
                        <a14:foregroundMark x1="8061" y1="49518" x2="6531" y2="33601"/>
                        <a14:foregroundMark x1="6531" y1="33601" x2="7653" y2="31994"/>
                        <a14:foregroundMark x1="1837" y1="43248" x2="2041" y2="450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660" y="3132682"/>
            <a:ext cx="3214678" cy="204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293576" y="1527674"/>
            <a:ext cx="36048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9856</Words>
  <Application>WPS Presentation</Application>
  <PresentationFormat>Widescreen</PresentationFormat>
  <Paragraphs>247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Lakkaraju Sri Prathyusha</dc:creator>
  <cp:lastModifiedBy>APARNA YALLAPRAGADA</cp:lastModifiedBy>
  <cp:revision>3</cp:revision>
  <dcterms:created xsi:type="dcterms:W3CDTF">2026-01-16T06:25:00Z</dcterms:created>
  <dcterms:modified xsi:type="dcterms:W3CDTF">2026-02-12T07:53:02Z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FC2C5B0C82B8437697921D73D82A4069_12</vt:lpwstr>
  </property>
  <property fmtid="{D5CDD505-2E9C-101B-9397-08002B2CF9AE}" pid="3" name="KSOProductBuildVer">
    <vt:lpwstr>1033-12.2.0.23196</vt:lpwstr>
  </property>
</Properties>
</file>